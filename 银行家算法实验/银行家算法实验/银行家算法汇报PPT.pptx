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Noto Sans SC"/>
      <p:regular r:id="rId201314"/>
      <p:bold r:id="rId201315"/>
    </p:embeddedFont>
    <p:embeddedFont>
      <p:font typeface="Noto Serif SC"/>
      <p:regular r:id="rId201316"/>
      <p:bold r:id="rId201317"/>
    </p:embeddedFont>
    <p:embeddedFont>
      <p:font typeface="Geist Mono"/>
      <p:regular r:id="rId201318"/>
    </p:embeddedFont>
    <p:embeddedFont>
      <p:font typeface="Geist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各位老师好，我汇报的题目是银行家算法实现。本实验把 Dijkstra 的死锁避免思想做成了一个完整系统：随机生成实验数据、枚举全部安全序列并计算资源利用效率、提供图形界面交互演示。封面下方这条链，就是程序实际算出的一条安全序列。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实验任务可以分成三块：第一，按约束随机生成数据，包括资源总量、占用种类、Max 与 Allocation，Need 由 Max 减 Allocation 得到；第二，安全性检查并枚举所有安全序列，按资源利用效率从高到低排序；第三，图形界面展示系统状态、支持动态请求，控制台同步输出详细日志。下面逐一介绍。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银行家算法的直觉来自放贷：批准一笔贷款之前，先验算是否还存在至少一种顺序，让所有客户都能借到所需、运行完成并归还资源。存在这样的安全序列，系统就是安全的；不存在，就是不安全状态。注意：不安全不等于必然死锁，只是有死锁风险，而银行家选择不批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安全性检查的核心是 Work 向量的不断推进：初始等于 Available，每轮找一个剩余需求不超过 Work 的进程，假设它执行完成并释放全部已分配资源，把 Allocation 加回 Work。如果最后所有进程都能完成，系统安全，推进顺序就是一条安全序列。复杂度约为 n 平方乘 m，规模内毫秒级完成。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请求分四步处理，任何一步不通过就拒绝并说明原因：先检查请求是否超过进程自己声明的剩余需求，再检查系统可用资源是否足够，然后试分配，最后对新状态做安全性检查；不安全就回滚。三类失败原因——超过最大需求、资源不足、分配后不安全——在界面上会分别明确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系统设计的关键是解耦：核心 Banker 类与界面完全分离，内置自测试可以在无界面环境下批量验证；随机数据严格按实验要求生成，Need 等于 Max 减 Allocation，三者永远自洽；生成后立即做初始安全性检查，不安全就整组重新生成，保证每次演示数据都可用。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这是教材经典案例的实测结果：五个进程、三类资源，总量 10、5、7，程序算出 Available 为 3、3、2，枚举出全部 16 条安全序列，与全排列暴力验证的条数完全一致。三类典型请求——P1 的合法请求成功、P4 资源不足被拒绝、P0 分配后不安全被回滚——都与理论分析吻合。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这一页看资源利用效率。我们把它定义为：按安全序列模拟执行，取每个进程开始前系统利用率——已分配资源占总资源的比例——的平均值。同一状态下 7 条安全序列，效率从 40% 到 18.6%，相差超过 21 个百分点：让高占用进程尽早完成，系统更快进入低占用状态。执行顺序，由此变成一个可比较的数。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工程上主要做了四个权衡：安全序列最多有 n 的阶乘条，枚举设两万条上限防止卡死；随机不等于随意，初始状态必须安全；Need 用 Max 减 Allocation 保证语义自洽；算法与界面解耦，支撑三十组随机实例的自动化测试，全部通过。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总结一下：这次实验把每次分配前先验算未来的思想，落地成了一个可运行、可观察、可验证的程序。交付物包括零第三方依赖的完整源代码、实验报告和这套汇报 PPT。我的汇报到此结束，谢谢各位老师，请批评指正。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5"/>
          <p:cNvSpPr/>
          <p:nvPr/>
        </p:nvSpPr>
        <p:spPr>
          <a:xfrm>
            <a:off x="5145187" y="1705670"/>
            <a:ext cx="19015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系统软件综合训练 · 第一次实验</a:t>
            </a:r>
            <a:endParaRPr lang="en-US" sz="1000" dirty="0"/>
          </a:p>
        </p:txBody>
      </p:sp>
      <p:sp>
        <p:nvSpPr>
          <p:cNvPr id="4" name="TextBox 7"/>
          <p:cNvSpPr/>
          <p:nvPr/>
        </p:nvSpPr>
        <p:spPr>
          <a:xfrm>
            <a:off x="1270000" y="2137470"/>
            <a:ext cx="9652000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60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银行家算法实现</a:t>
            </a:r>
            <a:endParaRPr lang="en-US" sz="6000" dirty="0"/>
          </a:p>
        </p:txBody>
      </p:sp>
      <p:sp>
        <p:nvSpPr>
          <p:cNvPr id="5" name="Shape 9"/>
          <p:cNvSpPr/>
          <p:nvPr/>
        </p:nvSpPr>
        <p:spPr>
          <a:xfrm>
            <a:off x="5829300" y="3194050"/>
            <a:ext cx="533400" cy="2540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6" name="TextBox 11"/>
          <p:cNvSpPr/>
          <p:nvPr/>
        </p:nvSpPr>
        <p:spPr>
          <a:xfrm>
            <a:off x="2603500" y="3498850"/>
            <a:ext cx="6985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Dijkstra 的死锁避免思想，构建一个「随机生成数据 · 枚举全部安全序列 · 图形界面可交互」的操作系统资源分配模拟系统</a:t>
            </a:r>
            <a:endParaRPr lang="en-US" sz="1500" dirty="0"/>
          </a:p>
        </p:txBody>
      </p:sp>
      <p:sp>
        <p:nvSpPr>
          <p:cNvPr id="7" name="TextBox 15"/>
          <p:cNvSpPr/>
          <p:nvPr/>
        </p:nvSpPr>
        <p:spPr>
          <a:xfrm>
            <a:off x="4484886" y="4330700"/>
            <a:ext cx="533400" cy="393700"/>
          </a:xfrm>
          <a:prstGeom prst="roundRect">
            <a:avLst>
              <a:gd name="adj" fmla="val 19355"/>
            </a:avLst>
          </a:prstGeom>
          <a:solidFill>
            <a:srgbClr val="E4F0EB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88900" rIns="139700" bIns="8890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E5B3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P0</a:t>
            </a:r>
            <a:endParaRPr lang="en-US" sz="1500" dirty="0"/>
          </a:p>
        </p:txBody>
      </p:sp>
      <p:sp>
        <p:nvSpPr>
          <p:cNvPr id="8" name="TextBox 16"/>
          <p:cNvSpPr/>
          <p:nvPr/>
        </p:nvSpPr>
        <p:spPr>
          <a:xfrm>
            <a:off x="5119886" y="4432300"/>
            <a:ext cx="1596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9676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Box 18"/>
          <p:cNvSpPr/>
          <p:nvPr/>
        </p:nvSpPr>
        <p:spPr>
          <a:xfrm>
            <a:off x="5381129" y="4330700"/>
            <a:ext cx="533400" cy="393700"/>
          </a:xfrm>
          <a:prstGeom prst="roundRect">
            <a:avLst>
              <a:gd name="adj" fmla="val 19355"/>
            </a:avLst>
          </a:prstGeom>
          <a:solidFill>
            <a:srgbClr val="E4F0EB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88900" rIns="139700" bIns="8890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E5B3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P3</a:t>
            </a:r>
            <a:endParaRPr lang="en-US" sz="1500" dirty="0"/>
          </a:p>
        </p:txBody>
      </p:sp>
      <p:sp>
        <p:nvSpPr>
          <p:cNvPr id="10" name="TextBox 19"/>
          <p:cNvSpPr/>
          <p:nvPr/>
        </p:nvSpPr>
        <p:spPr>
          <a:xfrm>
            <a:off x="6016129" y="4432300"/>
            <a:ext cx="1596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9676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Box 21"/>
          <p:cNvSpPr/>
          <p:nvPr/>
        </p:nvSpPr>
        <p:spPr>
          <a:xfrm>
            <a:off x="6277372" y="4330700"/>
            <a:ext cx="533400" cy="393700"/>
          </a:xfrm>
          <a:prstGeom prst="roundRect">
            <a:avLst>
              <a:gd name="adj" fmla="val 19355"/>
            </a:avLst>
          </a:prstGeom>
          <a:solidFill>
            <a:srgbClr val="E4F0EB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88900" rIns="139700" bIns="8890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E5B3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P2</a:t>
            </a:r>
            <a:endParaRPr lang="en-US" sz="1500" dirty="0"/>
          </a:p>
        </p:txBody>
      </p:sp>
      <p:sp>
        <p:nvSpPr>
          <p:cNvPr id="12" name="TextBox 22"/>
          <p:cNvSpPr/>
          <p:nvPr/>
        </p:nvSpPr>
        <p:spPr>
          <a:xfrm>
            <a:off x="6912372" y="4432300"/>
            <a:ext cx="1596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9676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Box 24"/>
          <p:cNvSpPr/>
          <p:nvPr/>
        </p:nvSpPr>
        <p:spPr>
          <a:xfrm>
            <a:off x="7173615" y="4330700"/>
            <a:ext cx="533400" cy="393700"/>
          </a:xfrm>
          <a:prstGeom prst="roundRect">
            <a:avLst>
              <a:gd name="adj" fmla="val 19355"/>
            </a:avLst>
          </a:prstGeom>
          <a:solidFill>
            <a:srgbClr val="E4F0EB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88900" rIns="139700" bIns="8890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E5B3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P1</a:t>
            </a:r>
            <a:endParaRPr lang="en-US" sz="1500" dirty="0"/>
          </a:p>
        </p:txBody>
      </p:sp>
      <p:sp>
        <p:nvSpPr>
          <p:cNvPr id="14" name="TextBox 27"/>
          <p:cNvSpPr/>
          <p:nvPr/>
        </p:nvSpPr>
        <p:spPr>
          <a:xfrm>
            <a:off x="4724400" y="5003800"/>
            <a:ext cx="274320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汇报人：XXX · 学号：XXX · 2026 年 10 月</a:t>
            </a:r>
            <a:endParaRPr lang="en-US" sz="900" dirty="0"/>
          </a:p>
        </p:txBody>
      </p:sp>
      <p:sp>
        <p:nvSpPr>
          <p:cNvPr id="15" name="TextBox 30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实验任务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8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从随机数据，到可演示的图形界面</a:t>
            </a:r>
            <a:endParaRPr lang="en-US" sz="3800" dirty="0"/>
          </a:p>
        </p:txBody>
      </p:sp>
      <p:sp>
        <p:nvSpPr>
          <p:cNvPr id="5" name="Shape 16"/>
          <p:cNvSpPr/>
          <p:nvPr/>
        </p:nvSpPr>
        <p:spPr>
          <a:xfrm>
            <a:off x="711200" y="2716808"/>
            <a:ext cx="3454400" cy="241548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6" name="TextBox 18"/>
          <p:cNvSpPr/>
          <p:nvPr/>
        </p:nvSpPr>
        <p:spPr>
          <a:xfrm>
            <a:off x="927100" y="2945408"/>
            <a:ext cx="30226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2300" dirty="0"/>
          </a:p>
        </p:txBody>
      </p:sp>
      <p:sp>
        <p:nvSpPr>
          <p:cNvPr id="7" name="TextBox 20"/>
          <p:cNvSpPr/>
          <p:nvPr/>
        </p:nvSpPr>
        <p:spPr>
          <a:xfrm>
            <a:off x="927100" y="3339108"/>
            <a:ext cx="30226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随机生成数据</a:t>
            </a:r>
            <a:endParaRPr lang="en-US" sz="1500" dirty="0"/>
          </a:p>
        </p:txBody>
      </p:sp>
      <p:sp>
        <p:nvSpPr>
          <p:cNvPr id="8" name="TextBox 22"/>
          <p:cNvSpPr/>
          <p:nvPr/>
        </p:nvSpPr>
        <p:spPr>
          <a:xfrm>
            <a:off x="927100" y="3665438"/>
            <a:ext cx="3022600" cy="123825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 个客户（进程）、m 类资源，界面可输入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每类资源总量上限随机：5–20 单位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每个客户占用 1–m 类资源，种类随机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Allocation、Max 随机生成，Need = Max − Allocation</a:t>
            </a:r>
            <a:endParaRPr lang="en-US" sz="1100" dirty="0"/>
          </a:p>
        </p:txBody>
      </p:sp>
      <p:sp>
        <p:nvSpPr>
          <p:cNvPr id="9" name="Shape 25"/>
          <p:cNvSpPr/>
          <p:nvPr/>
        </p:nvSpPr>
        <p:spPr>
          <a:xfrm>
            <a:off x="4368800" y="2716808"/>
            <a:ext cx="3454400" cy="241548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0" name="TextBox 27"/>
          <p:cNvSpPr/>
          <p:nvPr/>
        </p:nvSpPr>
        <p:spPr>
          <a:xfrm>
            <a:off x="4584700" y="2945408"/>
            <a:ext cx="30226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2300" dirty="0"/>
          </a:p>
        </p:txBody>
      </p:sp>
      <p:sp>
        <p:nvSpPr>
          <p:cNvPr id="11" name="TextBox 29"/>
          <p:cNvSpPr/>
          <p:nvPr/>
        </p:nvSpPr>
        <p:spPr>
          <a:xfrm>
            <a:off x="4584700" y="3339108"/>
            <a:ext cx="30226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全部安全序列</a:t>
            </a:r>
            <a:endParaRPr lang="en-US" sz="1500" dirty="0"/>
          </a:p>
        </p:txBody>
      </p:sp>
      <p:sp>
        <p:nvSpPr>
          <p:cNvPr id="12" name="TextBox 31"/>
          <p:cNvSpPr/>
          <p:nvPr/>
        </p:nvSpPr>
        <p:spPr>
          <a:xfrm>
            <a:off x="4584700" y="3665438"/>
            <a:ext cx="3022600" cy="102870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安全性检查：判断系统当前是否安全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DFS 枚举所有可能的安全序列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计算每条序列的资源利用效率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按效率从高到低排序输出</a:t>
            </a:r>
            <a:endParaRPr lang="en-US" sz="1100" dirty="0"/>
          </a:p>
        </p:txBody>
      </p:sp>
      <p:sp>
        <p:nvSpPr>
          <p:cNvPr id="13" name="Shape 34"/>
          <p:cNvSpPr/>
          <p:nvPr/>
        </p:nvSpPr>
        <p:spPr>
          <a:xfrm>
            <a:off x="8026400" y="2716808"/>
            <a:ext cx="3454400" cy="241548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Box 36"/>
          <p:cNvSpPr/>
          <p:nvPr/>
        </p:nvSpPr>
        <p:spPr>
          <a:xfrm>
            <a:off x="8242300" y="2945408"/>
            <a:ext cx="30226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2300" dirty="0"/>
          </a:p>
        </p:txBody>
      </p:sp>
      <p:sp>
        <p:nvSpPr>
          <p:cNvPr id="15" name="TextBox 38"/>
          <p:cNvSpPr/>
          <p:nvPr/>
        </p:nvSpPr>
        <p:spPr>
          <a:xfrm>
            <a:off x="8242300" y="3339108"/>
            <a:ext cx="30226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图形界面与日志</a:t>
            </a:r>
            <a:endParaRPr lang="en-US" sz="1500" dirty="0"/>
          </a:p>
        </p:txBody>
      </p:sp>
      <p:sp>
        <p:nvSpPr>
          <p:cNvPr id="16" name="TextBox 40"/>
          <p:cNvSpPr/>
          <p:nvPr/>
        </p:nvSpPr>
        <p:spPr>
          <a:xfrm>
            <a:off x="8242300" y="3665438"/>
            <a:ext cx="3022600" cy="123825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Tkinter 界面展示 Available / Allocation / Need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输入请求，动态显示成功 / 失败及原因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序列区按效率降序展示全部结果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控制台同步输出详细处理日志</a:t>
            </a:r>
            <a:endParaRPr lang="en-US" sz="1100" dirty="0"/>
          </a:p>
        </p:txBody>
      </p:sp>
      <p:sp>
        <p:nvSpPr>
          <p:cNvPr id="17" name="TextBox 46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1959372"/>
            <a:ext cx="54139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实验原理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2302272"/>
            <a:ext cx="5413970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60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先验算，再放贷</a:t>
            </a:r>
            <a:endParaRPr lang="en-US" sz="6000" dirty="0"/>
          </a:p>
        </p:txBody>
      </p:sp>
      <p:sp>
        <p:nvSpPr>
          <p:cNvPr id="5" name="TextBox 11"/>
          <p:cNvSpPr/>
          <p:nvPr/>
        </p:nvSpPr>
        <p:spPr>
          <a:xfrm>
            <a:off x="711200" y="3315692"/>
            <a:ext cx="54139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银行家算法把操作系统看作银行家：批准一笔「贷款」（资源请求）之前，先验算——是否还存在至少一种执行顺序，让所有客户都能借到所需资源、运行完成并归还。</a:t>
            </a:r>
            <a:endParaRPr lang="en-US" sz="1500" dirty="0"/>
          </a:p>
        </p:txBody>
      </p:sp>
      <p:sp>
        <p:nvSpPr>
          <p:cNvPr id="6" name="TextBox 13"/>
          <p:cNvSpPr/>
          <p:nvPr/>
        </p:nvSpPr>
        <p:spPr>
          <a:xfrm>
            <a:off x="711200" y="4334867"/>
            <a:ext cx="5413970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若这样的进程执行顺序存在，它就是一条</a:t>
            </a:r>
            <a:r>
              <a:rPr lang="en-US" sz="1500" b="1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安全序列</a:t>
            </a: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，系统处于安全状态。死锁避免的本质，就是每次分配前都做这一次验算。</a:t>
            </a:r>
            <a:endParaRPr lang="en-US" sz="1500" dirty="0"/>
          </a:p>
        </p:txBody>
      </p:sp>
      <p:sp>
        <p:nvSpPr>
          <p:cNvPr id="7" name="Shape 18"/>
          <p:cNvSpPr/>
          <p:nvPr/>
        </p:nvSpPr>
        <p:spPr>
          <a:xfrm>
            <a:off x="6582370" y="1308100"/>
            <a:ext cx="4898330" cy="2032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</p:sp>
      <p:pic>
        <p:nvPicPr>
          <p:cNvPr id="8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2370" y="1308100"/>
            <a:ext cx="4898330" cy="2032000"/>
          </a:xfrm>
          <a:prstGeom prst="rect">
            <a:avLst/>
          </a:prstGeom>
        </p:spPr>
      </p:pic>
      <p:sp>
        <p:nvSpPr>
          <p:cNvPr id="9" name="TextBox 20"/>
          <p:cNvSpPr/>
          <p:nvPr/>
        </p:nvSpPr>
        <p:spPr>
          <a:xfrm>
            <a:off x="6830020" y="1498600"/>
            <a:ext cx="443478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E5B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安全状态</a:t>
            </a:r>
            <a:endParaRPr lang="en-US" sz="1450" dirty="0"/>
          </a:p>
        </p:txBody>
      </p:sp>
      <p:sp>
        <p:nvSpPr>
          <p:cNvPr id="10" name="TextBox 22"/>
          <p:cNvSpPr/>
          <p:nvPr/>
        </p:nvSpPr>
        <p:spPr>
          <a:xfrm>
            <a:off x="6830020" y="1795760"/>
            <a:ext cx="443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存在至少一条安全序列 → 所有进程都保证能够完成，系统不会因此进入死锁。</a:t>
            </a:r>
            <a:endParaRPr lang="en-US" sz="1200" dirty="0"/>
          </a:p>
        </p:txBody>
      </p:sp>
      <p:sp>
        <p:nvSpPr>
          <p:cNvPr id="11" name="Shape 25"/>
          <p:cNvSpPr/>
          <p:nvPr/>
        </p:nvSpPr>
        <p:spPr>
          <a:xfrm>
            <a:off x="6582370" y="3517900"/>
            <a:ext cx="4898330" cy="2032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</p:sp>
      <p:pic>
        <p:nvPicPr>
          <p:cNvPr id="12" name="Picture 25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2370" y="3517900"/>
            <a:ext cx="4898330" cy="2032000"/>
          </a:xfrm>
          <a:prstGeom prst="rect">
            <a:avLst/>
          </a:prstGeom>
        </p:spPr>
      </p:pic>
      <p:sp>
        <p:nvSpPr>
          <p:cNvPr id="13" name="TextBox 27"/>
          <p:cNvSpPr/>
          <p:nvPr/>
        </p:nvSpPr>
        <p:spPr>
          <a:xfrm>
            <a:off x="6830020" y="3708400"/>
            <a:ext cx="443478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不安全状态</a:t>
            </a:r>
            <a:endParaRPr lang="en-US" sz="1450" dirty="0"/>
          </a:p>
        </p:txBody>
      </p:sp>
      <p:sp>
        <p:nvSpPr>
          <p:cNvPr id="14" name="TextBox 29"/>
          <p:cNvSpPr/>
          <p:nvPr/>
        </p:nvSpPr>
        <p:spPr>
          <a:xfrm>
            <a:off x="6830020" y="4005560"/>
            <a:ext cx="443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不存在任何安全序列 → 可能发生死锁。不安全 ≠ 必然死锁，但银行家选择不予批准。</a:t>
            </a:r>
            <a:endParaRPr lang="en-US" sz="1200" dirty="0"/>
          </a:p>
        </p:txBody>
      </p:sp>
      <p:sp>
        <p:nvSpPr>
          <p:cNvPr id="15" name="TextBox 34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算法一 · 安全性检查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Work 不断推进，直到没有进程能继续</a:t>
            </a:r>
            <a:endParaRPr lang="en-US" sz="3200" dirty="0"/>
          </a:p>
        </p:txBody>
      </p:sp>
      <p:sp>
        <p:nvSpPr>
          <p:cNvPr id="5" name="Shape 18"/>
          <p:cNvSpPr/>
          <p:nvPr/>
        </p:nvSpPr>
        <p:spPr>
          <a:xfrm>
            <a:off x="711200" y="2179340"/>
            <a:ext cx="5283200" cy="787598"/>
          </a:xfrm>
          <a:prstGeom prst="rect">
            <a:avLst/>
          </a:prstGeom>
          <a:noFill/>
          <a:ln/>
        </p:spPr>
      </p:sp>
      <p:pic>
        <p:nvPicPr>
          <p:cNvPr id="6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2179340"/>
            <a:ext cx="5283200" cy="787598"/>
          </a:xfrm>
          <a:prstGeom prst="rect">
            <a:avLst/>
          </a:prstGeom>
        </p:spPr>
      </p:pic>
      <p:sp>
        <p:nvSpPr>
          <p:cNvPr id="7" name="TextBox 20"/>
          <p:cNvSpPr/>
          <p:nvPr/>
        </p:nvSpPr>
        <p:spPr>
          <a:xfrm>
            <a:off x="711200" y="2331740"/>
            <a:ext cx="457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Box 23"/>
          <p:cNvSpPr/>
          <p:nvPr/>
        </p:nvSpPr>
        <p:spPr>
          <a:xfrm>
            <a:off x="1295400" y="2331740"/>
            <a:ext cx="4699000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9" name="TextBox 24"/>
          <p:cNvSpPr/>
          <p:nvPr/>
        </p:nvSpPr>
        <p:spPr>
          <a:xfrm>
            <a:off x="1295400" y="2592288"/>
            <a:ext cx="469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 = Available；所有进程 Finish = false</a:t>
            </a:r>
            <a:endParaRPr lang="en-US" sz="1100" dirty="0"/>
          </a:p>
        </p:txBody>
      </p:sp>
      <p:sp>
        <p:nvSpPr>
          <p:cNvPr id="10" name="Shape 27"/>
          <p:cNvSpPr/>
          <p:nvPr/>
        </p:nvSpPr>
        <p:spPr>
          <a:xfrm>
            <a:off x="711200" y="2966938"/>
            <a:ext cx="5283200" cy="787598"/>
          </a:xfrm>
          <a:prstGeom prst="rect">
            <a:avLst/>
          </a:prstGeom>
          <a:noFill/>
          <a:ln/>
        </p:spPr>
      </p:sp>
      <p:pic>
        <p:nvPicPr>
          <p:cNvPr id="11" name="Picture 2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966938"/>
            <a:ext cx="5283200" cy="787598"/>
          </a:xfrm>
          <a:prstGeom prst="rect">
            <a:avLst/>
          </a:prstGeom>
        </p:spPr>
      </p:pic>
      <p:sp>
        <p:nvSpPr>
          <p:cNvPr id="12" name="TextBox 29"/>
          <p:cNvSpPr/>
          <p:nvPr/>
        </p:nvSpPr>
        <p:spPr>
          <a:xfrm>
            <a:off x="711200" y="3119338"/>
            <a:ext cx="457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Box 32"/>
          <p:cNvSpPr/>
          <p:nvPr/>
        </p:nvSpPr>
        <p:spPr>
          <a:xfrm>
            <a:off x="1295400" y="3119338"/>
            <a:ext cx="4699000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找可完成进程</a:t>
            </a:r>
            <a:endParaRPr lang="en-US" sz="1400" dirty="0"/>
          </a:p>
        </p:txBody>
      </p:sp>
      <p:sp>
        <p:nvSpPr>
          <p:cNvPr id="14" name="TextBox 33"/>
          <p:cNvSpPr/>
          <p:nvPr/>
        </p:nvSpPr>
        <p:spPr>
          <a:xfrm>
            <a:off x="1295400" y="3379887"/>
            <a:ext cx="469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在未完成进程中，找 Need[i] ≤ Work 的进程 Pi；找不到则转到第 4 步</a:t>
            </a:r>
            <a:endParaRPr lang="en-US" sz="1100" dirty="0"/>
          </a:p>
        </p:txBody>
      </p:sp>
      <p:sp>
        <p:nvSpPr>
          <p:cNvPr id="15" name="Shape 36"/>
          <p:cNvSpPr/>
          <p:nvPr/>
        </p:nvSpPr>
        <p:spPr>
          <a:xfrm>
            <a:off x="711200" y="3754537"/>
            <a:ext cx="5283200" cy="787598"/>
          </a:xfrm>
          <a:prstGeom prst="rect">
            <a:avLst/>
          </a:prstGeom>
          <a:noFill/>
          <a:ln/>
        </p:spPr>
      </p:sp>
      <p:pic>
        <p:nvPicPr>
          <p:cNvPr id="16" name="Picture 3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3754537"/>
            <a:ext cx="5283200" cy="787598"/>
          </a:xfrm>
          <a:prstGeom prst="rect">
            <a:avLst/>
          </a:prstGeom>
        </p:spPr>
      </p:pic>
      <p:sp>
        <p:nvSpPr>
          <p:cNvPr id="17" name="TextBox 38"/>
          <p:cNvSpPr/>
          <p:nvPr/>
        </p:nvSpPr>
        <p:spPr>
          <a:xfrm>
            <a:off x="711200" y="3906937"/>
            <a:ext cx="457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Box 41"/>
          <p:cNvSpPr/>
          <p:nvPr/>
        </p:nvSpPr>
        <p:spPr>
          <a:xfrm>
            <a:off x="1295400" y="3906937"/>
            <a:ext cx="4699000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假定执行完成</a:t>
            </a:r>
            <a:endParaRPr lang="en-US" sz="1400" dirty="0"/>
          </a:p>
        </p:txBody>
      </p:sp>
      <p:sp>
        <p:nvSpPr>
          <p:cNvPr id="19" name="TextBox 42"/>
          <p:cNvSpPr/>
          <p:nvPr/>
        </p:nvSpPr>
        <p:spPr>
          <a:xfrm>
            <a:off x="1295400" y="4167485"/>
            <a:ext cx="469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 = Work + Allocation[i]，Finish[i] = true，回到第 2 步</a:t>
            </a:r>
            <a:endParaRPr lang="en-US" sz="1100" dirty="0"/>
          </a:p>
        </p:txBody>
      </p:sp>
      <p:sp>
        <p:nvSpPr>
          <p:cNvPr id="20" name="TextBox 47"/>
          <p:cNvSpPr/>
          <p:nvPr/>
        </p:nvSpPr>
        <p:spPr>
          <a:xfrm>
            <a:off x="711200" y="4694535"/>
            <a:ext cx="457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Box 50"/>
          <p:cNvSpPr/>
          <p:nvPr/>
        </p:nvSpPr>
        <p:spPr>
          <a:xfrm>
            <a:off x="1295400" y="4694535"/>
            <a:ext cx="4699000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判定</a:t>
            </a:r>
            <a:endParaRPr lang="en-US" sz="1400" dirty="0"/>
          </a:p>
        </p:txBody>
      </p:sp>
      <p:sp>
        <p:nvSpPr>
          <p:cNvPr id="22" name="TextBox 51"/>
          <p:cNvSpPr/>
          <p:nvPr/>
        </p:nvSpPr>
        <p:spPr>
          <a:xfrm>
            <a:off x="1295400" y="4955084"/>
            <a:ext cx="469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 Finish 为 true 则安全；进程完成的先后顺序即一条安全序列</a:t>
            </a:r>
            <a:endParaRPr lang="en-US" sz="1100" dirty="0"/>
          </a:p>
        </p:txBody>
      </p:sp>
      <p:sp>
        <p:nvSpPr>
          <p:cNvPr id="23" name="TextBox 57"/>
          <p:cNvSpPr/>
          <p:nvPr/>
        </p:nvSpPr>
        <p:spPr>
          <a:xfrm>
            <a:off x="6197600" y="2179340"/>
            <a:ext cx="5283200" cy="3107134"/>
          </a:xfrm>
          <a:prstGeom prst="roundRect">
            <a:avLst>
              <a:gd name="adj" fmla="val 3270"/>
            </a:avLst>
          </a:prstGeom>
          <a:solidFill>
            <a:srgbClr val="20241F"/>
          </a:solidFill>
          <a:ln/>
        </p:spPr>
        <p:txBody>
          <a:bodyPr wrap="none" lIns="266700" tIns="228600" rIns="266700" bIns="228600" rtlCol="0" anchor="t">
            <a:normAutofit/>
          </a:bodyPr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    := Available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FINISH  := {false}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loop: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找 i：FINISH[i]=false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   且 NEED[i] ≤ WORK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找不到 → break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WORK    += ALLOCATION[i]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FINISH[i] := true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dirty="0">
                <a:solidFill>
                  <a:srgbClr val="D9E9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安全 ⟺ 全部 FINISH = true</a:t>
            </a:r>
            <a:endParaRPr lang="en-US" sz="1150" dirty="0"/>
          </a:p>
        </p:txBody>
      </p:sp>
      <p:sp>
        <p:nvSpPr>
          <p:cNvPr id="24" name="TextBox 59"/>
          <p:cNvSpPr/>
          <p:nvPr/>
        </p:nvSpPr>
        <p:spPr>
          <a:xfrm>
            <a:off x="6197600" y="5438874"/>
            <a:ext cx="528320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时间复杂度 O(n²·m) —— 实验规模 n ≤ 10 内毫秒级完成</a:t>
            </a:r>
            <a:endParaRPr lang="en-US" sz="900" dirty="0"/>
          </a:p>
        </p:txBody>
      </p:sp>
      <p:sp>
        <p:nvSpPr>
          <p:cNvPr id="25" name="TextBox 65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算法二 · 资源请求处理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四步验算：任何一步不通过，就拒绝并说明原因</a:t>
            </a:r>
            <a:endParaRPr lang="en-US" sz="3200" dirty="0"/>
          </a:p>
        </p:txBody>
      </p:sp>
      <p:sp>
        <p:nvSpPr>
          <p:cNvPr id="5" name="Shape 18"/>
          <p:cNvSpPr/>
          <p:nvPr/>
        </p:nvSpPr>
        <p:spPr>
          <a:xfrm>
            <a:off x="711200" y="2730103"/>
            <a:ext cx="2559050" cy="1658739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6" name="TextBox 20"/>
          <p:cNvSpPr/>
          <p:nvPr/>
        </p:nvSpPr>
        <p:spPr>
          <a:xfrm>
            <a:off x="889000" y="2920603"/>
            <a:ext cx="22034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Box 22"/>
          <p:cNvSpPr/>
          <p:nvPr/>
        </p:nvSpPr>
        <p:spPr>
          <a:xfrm>
            <a:off x="889000" y="3263503"/>
            <a:ext cx="220345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合法性检查</a:t>
            </a:r>
            <a:endParaRPr lang="en-US" sz="1450" dirty="0"/>
          </a:p>
        </p:txBody>
      </p:sp>
      <p:sp>
        <p:nvSpPr>
          <p:cNvPr id="8" name="TextBox 24"/>
          <p:cNvSpPr/>
          <p:nvPr/>
        </p:nvSpPr>
        <p:spPr>
          <a:xfrm>
            <a:off x="889000" y="3569692"/>
            <a:ext cx="2203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 ≤ Need？超过进程声明的剩余需求即非法请求，直接拒绝</a:t>
            </a:r>
            <a:endParaRPr lang="en-US" sz="1100" dirty="0"/>
          </a:p>
        </p:txBody>
      </p:sp>
      <p:sp>
        <p:nvSpPr>
          <p:cNvPr id="9" name="Shape 27"/>
          <p:cNvSpPr/>
          <p:nvPr/>
        </p:nvSpPr>
        <p:spPr>
          <a:xfrm>
            <a:off x="3448050" y="2730103"/>
            <a:ext cx="2559050" cy="1658739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0" name="TextBox 29"/>
          <p:cNvSpPr/>
          <p:nvPr/>
        </p:nvSpPr>
        <p:spPr>
          <a:xfrm>
            <a:off x="3625850" y="2920603"/>
            <a:ext cx="22034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Box 31"/>
          <p:cNvSpPr/>
          <p:nvPr/>
        </p:nvSpPr>
        <p:spPr>
          <a:xfrm>
            <a:off x="3625850" y="3263503"/>
            <a:ext cx="220345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可用性检查</a:t>
            </a:r>
            <a:endParaRPr lang="en-US" sz="1450" dirty="0"/>
          </a:p>
        </p:txBody>
      </p:sp>
      <p:sp>
        <p:nvSpPr>
          <p:cNvPr id="12" name="TextBox 33"/>
          <p:cNvSpPr/>
          <p:nvPr/>
        </p:nvSpPr>
        <p:spPr>
          <a:xfrm>
            <a:off x="3625850" y="3569692"/>
            <a:ext cx="220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 ≤ Available？系统可用资源不足，进程须等待，拒绝本次请求</a:t>
            </a:r>
            <a:endParaRPr lang="en-US" sz="1100" dirty="0"/>
          </a:p>
        </p:txBody>
      </p:sp>
      <p:sp>
        <p:nvSpPr>
          <p:cNvPr id="13" name="Shape 36"/>
          <p:cNvSpPr/>
          <p:nvPr/>
        </p:nvSpPr>
        <p:spPr>
          <a:xfrm>
            <a:off x="6184900" y="2730103"/>
            <a:ext cx="2559050" cy="1658739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Box 38"/>
          <p:cNvSpPr/>
          <p:nvPr/>
        </p:nvSpPr>
        <p:spPr>
          <a:xfrm>
            <a:off x="6362700" y="2920603"/>
            <a:ext cx="22034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③</a:t>
            </a:r>
            <a:endParaRPr lang="en-US" sz="2000" dirty="0"/>
          </a:p>
        </p:txBody>
      </p:sp>
      <p:sp>
        <p:nvSpPr>
          <p:cNvPr id="15" name="TextBox 40"/>
          <p:cNvSpPr/>
          <p:nvPr/>
        </p:nvSpPr>
        <p:spPr>
          <a:xfrm>
            <a:off x="6362700" y="3263503"/>
            <a:ext cx="220345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试分配</a:t>
            </a:r>
            <a:endParaRPr lang="en-US" sz="1450" dirty="0"/>
          </a:p>
        </p:txBody>
      </p:sp>
      <p:sp>
        <p:nvSpPr>
          <p:cNvPr id="16" name="TextBox 42"/>
          <p:cNvSpPr/>
          <p:nvPr/>
        </p:nvSpPr>
        <p:spPr>
          <a:xfrm>
            <a:off x="6362700" y="3569692"/>
            <a:ext cx="220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暂时修改三处状态：Available −= Request，Allocation += Request，Need −= Request</a:t>
            </a:r>
            <a:endParaRPr lang="en-US" sz="1100" dirty="0"/>
          </a:p>
        </p:txBody>
      </p:sp>
      <p:sp>
        <p:nvSpPr>
          <p:cNvPr id="17" name="Shape 45"/>
          <p:cNvSpPr/>
          <p:nvPr/>
        </p:nvSpPr>
        <p:spPr>
          <a:xfrm>
            <a:off x="8921750" y="2730103"/>
            <a:ext cx="2559050" cy="1658739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Box 47"/>
          <p:cNvSpPr/>
          <p:nvPr/>
        </p:nvSpPr>
        <p:spPr>
          <a:xfrm>
            <a:off x="9099550" y="2920603"/>
            <a:ext cx="22034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62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④</a:t>
            </a:r>
            <a:endParaRPr lang="en-US" sz="2000" dirty="0"/>
          </a:p>
        </p:txBody>
      </p:sp>
      <p:sp>
        <p:nvSpPr>
          <p:cNvPr id="19" name="TextBox 49"/>
          <p:cNvSpPr/>
          <p:nvPr/>
        </p:nvSpPr>
        <p:spPr>
          <a:xfrm>
            <a:off x="9099550" y="3263503"/>
            <a:ext cx="220345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安全性检查</a:t>
            </a:r>
            <a:endParaRPr lang="en-US" sz="1450" dirty="0"/>
          </a:p>
        </p:txBody>
      </p:sp>
      <p:sp>
        <p:nvSpPr>
          <p:cNvPr id="20" name="TextBox 51"/>
          <p:cNvSpPr/>
          <p:nvPr/>
        </p:nvSpPr>
        <p:spPr>
          <a:xfrm>
            <a:off x="9099550" y="3569692"/>
            <a:ext cx="220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对新状态执行安全性算法：安全则确认分配；不安全则回滚、拒绝请求</a:t>
            </a:r>
            <a:endParaRPr lang="en-US" sz="1100" dirty="0"/>
          </a:p>
        </p:txBody>
      </p:sp>
      <p:sp>
        <p:nvSpPr>
          <p:cNvPr id="21" name="TextBox 57"/>
          <p:cNvSpPr/>
          <p:nvPr/>
        </p:nvSpPr>
        <p:spPr>
          <a:xfrm>
            <a:off x="711200" y="4668242"/>
            <a:ext cx="3048000" cy="368300"/>
          </a:xfrm>
          <a:prstGeom prst="roundRect">
            <a:avLst>
              <a:gd name="adj" fmla="val 20690"/>
            </a:avLst>
          </a:prstGeom>
          <a:solidFill>
            <a:srgbClr val="DFEDE8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5B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成功：分配后仍处于安全状态，确认分配</a:t>
            </a:r>
            <a:endParaRPr lang="en-US" sz="1200" dirty="0"/>
          </a:p>
        </p:txBody>
      </p:sp>
      <p:sp>
        <p:nvSpPr>
          <p:cNvPr id="22" name="TextBox 59"/>
          <p:cNvSpPr/>
          <p:nvPr/>
        </p:nvSpPr>
        <p:spPr>
          <a:xfrm>
            <a:off x="3911600" y="4668242"/>
            <a:ext cx="1745655" cy="368300"/>
          </a:xfrm>
          <a:prstGeom prst="roundRect">
            <a:avLst>
              <a:gd name="adj" fmla="val 20690"/>
            </a:avLst>
          </a:prstGeom>
          <a:solidFill>
            <a:srgbClr val="FAEEEE"/>
          </a:solidFill>
          <a:ln w="12700">
            <a:solidFill>
              <a:srgbClr val="C62828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 · 超过最大需求</a:t>
            </a:r>
            <a:endParaRPr lang="en-US" sz="1200" dirty="0"/>
          </a:p>
        </p:txBody>
      </p:sp>
      <p:sp>
        <p:nvSpPr>
          <p:cNvPr id="23" name="TextBox 61"/>
          <p:cNvSpPr/>
          <p:nvPr/>
        </p:nvSpPr>
        <p:spPr>
          <a:xfrm>
            <a:off x="5809655" y="4668242"/>
            <a:ext cx="1898055" cy="368300"/>
          </a:xfrm>
          <a:prstGeom prst="roundRect">
            <a:avLst>
              <a:gd name="adj" fmla="val 20690"/>
            </a:avLst>
          </a:prstGeom>
          <a:solidFill>
            <a:srgbClr val="FAEEEE"/>
          </a:solidFill>
          <a:ln w="12700">
            <a:solidFill>
              <a:srgbClr val="C62828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 · 资源不足需等待</a:t>
            </a:r>
            <a:endParaRPr lang="en-US" sz="1200" dirty="0"/>
          </a:p>
        </p:txBody>
      </p:sp>
      <p:sp>
        <p:nvSpPr>
          <p:cNvPr id="24" name="TextBox 63"/>
          <p:cNvSpPr/>
          <p:nvPr/>
        </p:nvSpPr>
        <p:spPr>
          <a:xfrm>
            <a:off x="7860109" y="4668242"/>
            <a:ext cx="2507655" cy="368300"/>
          </a:xfrm>
          <a:prstGeom prst="roundRect">
            <a:avLst>
              <a:gd name="adj" fmla="val 20690"/>
            </a:avLst>
          </a:prstGeom>
          <a:solidFill>
            <a:srgbClr val="FAEEEE"/>
          </a:solidFill>
          <a:ln w="12700">
            <a:solidFill>
              <a:srgbClr val="C62828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 · 将导致不安全（已回滚）</a:t>
            </a:r>
            <a:endParaRPr lang="en-US" sz="1200" dirty="0"/>
          </a:p>
        </p:txBody>
      </p:sp>
      <p:sp>
        <p:nvSpPr>
          <p:cNvPr id="25" name="TextBox 69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系统设计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核心算法与界面解耦，零第三方依赖</a:t>
            </a:r>
            <a:endParaRPr lang="en-US" sz="3200" dirty="0"/>
          </a:p>
        </p:txBody>
      </p:sp>
      <p:sp>
        <p:nvSpPr>
          <p:cNvPr id="5" name="Shape 18"/>
          <p:cNvSpPr/>
          <p:nvPr/>
        </p:nvSpPr>
        <p:spPr>
          <a:xfrm>
            <a:off x="711200" y="2140645"/>
            <a:ext cx="5283200" cy="735012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/>
        </p:spPr>
      </p:sp>
      <p:pic>
        <p:nvPicPr>
          <p:cNvPr id="6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2140645"/>
            <a:ext cx="5283200" cy="735012"/>
          </a:xfrm>
          <a:prstGeom prst="rect">
            <a:avLst/>
          </a:prstGeom>
        </p:spPr>
      </p:pic>
      <p:sp>
        <p:nvSpPr>
          <p:cNvPr id="7" name="TextBox 20"/>
          <p:cNvSpPr/>
          <p:nvPr/>
        </p:nvSpPr>
        <p:spPr>
          <a:xfrm>
            <a:off x="939800" y="2280345"/>
            <a:ext cx="4876800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界面层 · Tkinter</a:t>
            </a:r>
            <a:endParaRPr lang="en-US" sz="1350" dirty="0"/>
          </a:p>
        </p:txBody>
      </p:sp>
      <p:sp>
        <p:nvSpPr>
          <p:cNvPr id="8" name="TextBox 22"/>
          <p:cNvSpPr/>
          <p:nvPr/>
        </p:nvSpPr>
        <p:spPr>
          <a:xfrm>
            <a:off x="939800" y="2533452"/>
            <a:ext cx="487680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状态矩阵 / 请求输入 / 序列浏览 / 日志窗，五个功能分区</a:t>
            </a:r>
            <a:endParaRPr lang="en-US" sz="1100" dirty="0"/>
          </a:p>
        </p:txBody>
      </p:sp>
      <p:sp>
        <p:nvSpPr>
          <p:cNvPr id="9" name="Shape 25"/>
          <p:cNvSpPr/>
          <p:nvPr/>
        </p:nvSpPr>
        <p:spPr>
          <a:xfrm>
            <a:off x="711200" y="2989957"/>
            <a:ext cx="5283200" cy="735012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/>
        </p:spPr>
      </p:sp>
      <p:pic>
        <p:nvPicPr>
          <p:cNvPr id="10" name="Picture 25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989957"/>
            <a:ext cx="5283200" cy="735012"/>
          </a:xfrm>
          <a:prstGeom prst="rect">
            <a:avLst/>
          </a:prstGeom>
        </p:spPr>
      </p:pic>
      <p:sp>
        <p:nvSpPr>
          <p:cNvPr id="11" name="TextBox 27"/>
          <p:cNvSpPr/>
          <p:nvPr/>
        </p:nvSpPr>
        <p:spPr>
          <a:xfrm>
            <a:off x="939800" y="3129657"/>
            <a:ext cx="4876800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日志层</a:t>
            </a:r>
            <a:endParaRPr lang="en-US" sz="1350" dirty="0"/>
          </a:p>
        </p:txBody>
      </p:sp>
      <p:sp>
        <p:nvSpPr>
          <p:cNvPr id="12" name="TextBox 29"/>
          <p:cNvSpPr/>
          <p:nvPr/>
        </p:nvSpPr>
        <p:spPr>
          <a:xfrm>
            <a:off x="939800" y="3382764"/>
            <a:ext cx="487680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界面日志框与控制台同步双写，记录每次请求的完整处理过程</a:t>
            </a:r>
            <a:endParaRPr lang="en-US" sz="1100" dirty="0"/>
          </a:p>
        </p:txBody>
      </p:sp>
      <p:sp>
        <p:nvSpPr>
          <p:cNvPr id="13" name="Shape 32"/>
          <p:cNvSpPr/>
          <p:nvPr/>
        </p:nvSpPr>
        <p:spPr>
          <a:xfrm>
            <a:off x="711200" y="3839270"/>
            <a:ext cx="5283200" cy="937518"/>
          </a:xfrm>
          <a:prstGeom prst="roundRect">
            <a:avLst>
              <a:gd name="adj" fmla="val 8128"/>
            </a:avLst>
          </a:prstGeom>
          <a:solidFill>
            <a:srgbClr val="FFFFFF"/>
          </a:solidFill>
          <a:ln/>
        </p:spPr>
      </p:sp>
      <p:pic>
        <p:nvPicPr>
          <p:cNvPr id="14" name="Picture 32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3839270"/>
            <a:ext cx="5283200" cy="937518"/>
          </a:xfrm>
          <a:prstGeom prst="rect">
            <a:avLst/>
          </a:prstGeom>
        </p:spPr>
      </p:pic>
      <p:sp>
        <p:nvSpPr>
          <p:cNvPr id="15" name="TextBox 34"/>
          <p:cNvSpPr/>
          <p:nvPr/>
        </p:nvSpPr>
        <p:spPr>
          <a:xfrm>
            <a:off x="939800" y="3978970"/>
            <a:ext cx="4876800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 · Banker 类</a:t>
            </a:r>
            <a:endParaRPr lang="en-US" sz="1350" dirty="0"/>
          </a:p>
        </p:txBody>
      </p:sp>
      <p:sp>
        <p:nvSpPr>
          <p:cNvPr id="16" name="TextBox 36"/>
          <p:cNvSpPr/>
          <p:nvPr/>
        </p:nvSpPr>
        <p:spPr>
          <a:xfrm>
            <a:off x="939800" y="4232077"/>
            <a:ext cx="4876800" cy="4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安全性检查 · 全部序列枚举 · 效率计算 · 请求处理；与界面解耦，可独立测试</a:t>
            </a:r>
            <a:endParaRPr lang="en-US" sz="1100" dirty="0"/>
          </a:p>
        </p:txBody>
      </p:sp>
      <p:sp>
        <p:nvSpPr>
          <p:cNvPr id="17" name="Shape 39"/>
          <p:cNvSpPr/>
          <p:nvPr/>
        </p:nvSpPr>
        <p:spPr>
          <a:xfrm>
            <a:off x="711200" y="4891087"/>
            <a:ext cx="5283200" cy="735012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/>
        </p:spPr>
      </p:sp>
      <p:pic>
        <p:nvPicPr>
          <p:cNvPr id="18" name="Picture 3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" y="4891087"/>
            <a:ext cx="5283200" cy="735012"/>
          </a:xfrm>
          <a:prstGeom prst="rect">
            <a:avLst/>
          </a:prstGeom>
        </p:spPr>
      </p:pic>
      <p:sp>
        <p:nvSpPr>
          <p:cNvPr id="19" name="TextBox 41"/>
          <p:cNvSpPr/>
          <p:nvPr/>
        </p:nvSpPr>
        <p:spPr>
          <a:xfrm>
            <a:off x="939800" y="5030788"/>
            <a:ext cx="4876800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随机数据生成</a:t>
            </a:r>
            <a:endParaRPr lang="en-US" sz="1350" dirty="0"/>
          </a:p>
        </p:txBody>
      </p:sp>
      <p:sp>
        <p:nvSpPr>
          <p:cNvPr id="20" name="TextBox 43"/>
          <p:cNvSpPr/>
          <p:nvPr/>
        </p:nvSpPr>
        <p:spPr>
          <a:xfrm>
            <a:off x="939800" y="5283895"/>
            <a:ext cx="487680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按实验约束随机生成，附带初始安全性保证，确保数据可演示</a:t>
            </a:r>
            <a:endParaRPr lang="en-US" sz="1100" dirty="0"/>
          </a:p>
        </p:txBody>
      </p:sp>
      <p:sp>
        <p:nvSpPr>
          <p:cNvPr id="21" name="TextBox 49"/>
          <p:cNvSpPr/>
          <p:nvPr/>
        </p:nvSpPr>
        <p:spPr>
          <a:xfrm>
            <a:off x="6197600" y="2140645"/>
            <a:ext cx="52832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随机数据生成策略</a:t>
            </a:r>
            <a:endParaRPr lang="en-US" sz="1800" dirty="0"/>
          </a:p>
        </p:txBody>
      </p:sp>
      <p:graphicFrame>
        <p:nvGraphicFramePr>
          <p:cNvPr id="7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0" y="2562721"/>
          <a:ext cx="5283200" cy="914400"/>
        </p:xfrm>
        <a:graphic>
          <a:graphicData uri="http://schemas.openxmlformats.org/drawingml/2006/table">
            <a:tbl>
              <a:tblPr/>
              <a:tblGrid>
                <a:gridCol w="1503263"/>
                <a:gridCol w="376723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数据项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随机规则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Total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每类资源 5–20 均匀随机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占用种类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每客户 1–m 类，种类随机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Max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占用类 1–Total，未占用为 0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Allocation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0–Max，且每类合计 ≤ Total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Need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= Max − Allocation，天然 ≤ Max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初始状态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生成后安全检查，不安全则重生成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57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测试验证 · 经典教材案例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 条安全序列，三类请求全部符合理论预期</a:t>
            </a:r>
            <a:endParaRPr lang="en-US" sz="3200" dirty="0"/>
          </a:p>
        </p:txBody>
      </p:sp>
      <p:graphicFrame>
        <p:nvGraphicFramePr>
          <p:cNvPr id="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1730673"/>
          <a:ext cx="5283200" cy="914400"/>
        </p:xfrm>
        <a:graphic>
          <a:graphicData uri="http://schemas.openxmlformats.org/drawingml/2006/table">
            <a:tbl>
              <a:tblPr/>
              <a:tblGrid>
                <a:gridCol w="988516"/>
                <a:gridCol w="1774527"/>
                <a:gridCol w="1253629"/>
                <a:gridCol w="125382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进程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Allocation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Max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3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Need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P0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0 1 0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7 5 3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7 4 3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P1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2 0 0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3 2 2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1 2 2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3 0 2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9 0 2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6 0 0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P3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2 1 1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2 2 2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0 1 1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P4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0 0 2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4 3 3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5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91918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4 3 1</a:t>
                      </a:r>
                      <a:endParaRPr lang="en-US" sz="11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0650" marR="120650" marT="69850" marB="6985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20"/>
          <p:cNvSpPr/>
          <p:nvPr/>
        </p:nvSpPr>
        <p:spPr>
          <a:xfrm>
            <a:off x="711200" y="3858121"/>
            <a:ext cx="528320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Total = [10, 5, 7] · Available = [3, 3, 2]</a:t>
            </a:r>
            <a:endParaRPr lang="en-US" sz="900" dirty="0"/>
          </a:p>
        </p:txBody>
      </p:sp>
      <p:sp>
        <p:nvSpPr>
          <p:cNvPr id="7" name="TextBox 22"/>
          <p:cNvSpPr/>
          <p:nvPr/>
        </p:nvSpPr>
        <p:spPr>
          <a:xfrm>
            <a:off x="711200" y="4159052"/>
            <a:ext cx="528320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安全序列之一：P1 → P3 → P4 → P0 → P2</a:t>
            </a:r>
            <a:endParaRPr lang="en-US" sz="900" dirty="0"/>
          </a:p>
        </p:txBody>
      </p:sp>
      <p:sp>
        <p:nvSpPr>
          <p:cNvPr id="8" name="TextBox 29"/>
          <p:cNvSpPr/>
          <p:nvPr/>
        </p:nvSpPr>
        <p:spPr>
          <a:xfrm>
            <a:off x="6197600" y="1730673"/>
            <a:ext cx="5283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spc="-288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</a:t>
            </a:r>
            <a:endParaRPr lang="en-US" sz="7200" dirty="0"/>
          </a:p>
        </p:txBody>
      </p:sp>
      <p:sp>
        <p:nvSpPr>
          <p:cNvPr id="9" name="TextBox 31"/>
          <p:cNvSpPr/>
          <p:nvPr/>
        </p:nvSpPr>
        <p:spPr>
          <a:xfrm>
            <a:off x="6197600" y="2645073"/>
            <a:ext cx="5283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条安全序列，与「全排列逐一验证」的暴力法条数完全一致</a:t>
            </a:r>
            <a:endParaRPr lang="en-US" sz="1500" dirty="0"/>
          </a:p>
        </p:txBody>
      </p:sp>
      <p:sp>
        <p:nvSpPr>
          <p:cNvPr id="10" name="Shape 34"/>
          <p:cNvSpPr/>
          <p:nvPr/>
        </p:nvSpPr>
        <p:spPr>
          <a:xfrm>
            <a:off x="6197600" y="3038773"/>
            <a:ext cx="5283200" cy="9144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1" name="TextBox 36"/>
          <p:cNvSpPr/>
          <p:nvPr/>
        </p:nvSpPr>
        <p:spPr>
          <a:xfrm>
            <a:off x="6375400" y="3178473"/>
            <a:ext cx="492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P1 请求 (1, 0, 2)</a:t>
            </a:r>
            <a:endParaRPr lang="en-US" sz="1200" dirty="0"/>
          </a:p>
        </p:txBody>
      </p:sp>
      <p:sp>
        <p:nvSpPr>
          <p:cNvPr id="12" name="TextBox 38"/>
          <p:cNvSpPr/>
          <p:nvPr/>
        </p:nvSpPr>
        <p:spPr>
          <a:xfrm>
            <a:off x="6375400" y="3445173"/>
            <a:ext cx="4927600" cy="368300"/>
          </a:xfrm>
          <a:prstGeom prst="roundRect">
            <a:avLst>
              <a:gd name="adj" fmla="val 20690"/>
            </a:avLst>
          </a:prstGeom>
          <a:solidFill>
            <a:srgbClr val="DFEDE8"/>
          </a:solidFill>
          <a:ln w="12700">
            <a:solidFill>
              <a:srgbClr val="1A7F5A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5B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成功：分配后仍安全</a:t>
            </a:r>
            <a:endParaRPr lang="en-US" sz="1200" dirty="0"/>
          </a:p>
        </p:txBody>
      </p:sp>
      <p:sp>
        <p:nvSpPr>
          <p:cNvPr id="13" name="Shape 41"/>
          <p:cNvSpPr/>
          <p:nvPr/>
        </p:nvSpPr>
        <p:spPr>
          <a:xfrm>
            <a:off x="6197600" y="4080173"/>
            <a:ext cx="5283200" cy="9144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Box 43"/>
          <p:cNvSpPr/>
          <p:nvPr/>
        </p:nvSpPr>
        <p:spPr>
          <a:xfrm>
            <a:off x="6375400" y="4219873"/>
            <a:ext cx="492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P4 请求 (3, 3, 0)</a:t>
            </a:r>
            <a:endParaRPr lang="en-US" sz="1200" dirty="0"/>
          </a:p>
        </p:txBody>
      </p:sp>
      <p:sp>
        <p:nvSpPr>
          <p:cNvPr id="15" name="TextBox 45"/>
          <p:cNvSpPr/>
          <p:nvPr/>
        </p:nvSpPr>
        <p:spPr>
          <a:xfrm>
            <a:off x="6375400" y="4486573"/>
            <a:ext cx="4927600" cy="368300"/>
          </a:xfrm>
          <a:prstGeom prst="roundRect">
            <a:avLst>
              <a:gd name="adj" fmla="val 20690"/>
            </a:avLst>
          </a:prstGeom>
          <a:solidFill>
            <a:srgbClr val="FAEEEE"/>
          </a:solidFill>
          <a:ln w="12700">
            <a:solidFill>
              <a:srgbClr val="C62828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拒绝：可用资源不足</a:t>
            </a:r>
            <a:endParaRPr lang="en-US" sz="1200" dirty="0"/>
          </a:p>
        </p:txBody>
      </p:sp>
      <p:sp>
        <p:nvSpPr>
          <p:cNvPr id="16" name="Shape 48"/>
          <p:cNvSpPr/>
          <p:nvPr/>
        </p:nvSpPr>
        <p:spPr>
          <a:xfrm>
            <a:off x="6197600" y="5121573"/>
            <a:ext cx="5283200" cy="9144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Box 50"/>
          <p:cNvSpPr/>
          <p:nvPr/>
        </p:nvSpPr>
        <p:spPr>
          <a:xfrm>
            <a:off x="6375400" y="5261273"/>
            <a:ext cx="492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P0 请求 (0, 2, 0)</a:t>
            </a:r>
            <a:endParaRPr lang="en-US" sz="1200" dirty="0"/>
          </a:p>
        </p:txBody>
      </p:sp>
      <p:sp>
        <p:nvSpPr>
          <p:cNvPr id="18" name="TextBox 52"/>
          <p:cNvSpPr/>
          <p:nvPr/>
        </p:nvSpPr>
        <p:spPr>
          <a:xfrm>
            <a:off x="6375400" y="5527973"/>
            <a:ext cx="4927600" cy="368300"/>
          </a:xfrm>
          <a:prstGeom prst="roundRect">
            <a:avLst>
              <a:gd name="adj" fmla="val 20690"/>
            </a:avLst>
          </a:prstGeom>
          <a:solidFill>
            <a:srgbClr val="FAEEEE"/>
          </a:solidFill>
          <a:ln w="12700">
            <a:solidFill>
              <a:srgbClr val="C62828"/>
            </a:solidFill>
            <a:prstDash val="solid"/>
          </a:ln>
        </p:spPr>
        <p:txBody>
          <a:bodyPr wrap="none" lIns="139700" tIns="76200" rIns="139700" bIns="7620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拒绝：将导致不安全，已回滚</a:t>
            </a:r>
            <a:endParaRPr lang="en-US" sz="1200" dirty="0"/>
          </a:p>
        </p:txBody>
      </p:sp>
      <p:sp>
        <p:nvSpPr>
          <p:cNvPr id="19" name="TextBox 59"/>
          <p:cNvSpPr/>
          <p:nvPr/>
        </p:nvSpPr>
        <p:spPr>
          <a:xfrm>
            <a:off x="711200" y="6510040"/>
            <a:ext cx="3962499" cy="132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数据来源：Silberschatz《操作系统概念》经典示例，程序 --self-test 实测输出</a:t>
            </a:r>
            <a:endParaRPr lang="en-US" sz="800" dirty="0"/>
          </a:p>
        </p:txBody>
      </p:sp>
      <p:sp>
        <p:nvSpPr>
          <p:cNvPr id="20" name="TextBox 61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测试验证 · 资源利用效率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 条安全序列，效率相差超 21 个百分点</a:t>
            </a:r>
            <a:endParaRPr lang="en-US" sz="3200" dirty="0"/>
          </a:p>
        </p:txBody>
      </p:sp>
      <p:sp>
        <p:nvSpPr>
          <p:cNvPr id="5" name="TextBox 22"/>
          <p:cNvSpPr/>
          <p:nvPr/>
        </p:nvSpPr>
        <p:spPr>
          <a:xfrm>
            <a:off x="711200" y="2040334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P0 → P3 → P2 → P1</a:t>
            </a:r>
            <a:endParaRPr lang="en-US" sz="1150" dirty="0"/>
          </a:p>
        </p:txBody>
      </p:sp>
      <p:sp>
        <p:nvSpPr>
          <p:cNvPr id="6" name="Shape 24"/>
          <p:cNvSpPr/>
          <p:nvPr/>
        </p:nvSpPr>
        <p:spPr>
          <a:xfrm>
            <a:off x="3848100" y="2032695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7" name="Shape 25"/>
          <p:cNvSpPr/>
          <p:nvPr/>
        </p:nvSpPr>
        <p:spPr>
          <a:xfrm>
            <a:off x="3848100" y="2032695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1A7F5A"/>
          </a:solidFill>
          <a:ln/>
        </p:spPr>
      </p:sp>
      <p:sp>
        <p:nvSpPr>
          <p:cNvPr id="8" name="TextBox 27"/>
          <p:cNvSpPr/>
          <p:nvPr/>
        </p:nvSpPr>
        <p:spPr>
          <a:xfrm>
            <a:off x="10591800" y="2042220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E5B3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40.00%</a:t>
            </a:r>
            <a:endParaRPr lang="en-US" sz="1350" dirty="0"/>
          </a:p>
        </p:txBody>
      </p:sp>
      <p:sp>
        <p:nvSpPr>
          <p:cNvPr id="9" name="TextBox 32"/>
          <p:cNvSpPr/>
          <p:nvPr/>
        </p:nvSpPr>
        <p:spPr>
          <a:xfrm>
            <a:off x="711200" y="2540397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P0 → P2 → P3 → P1</a:t>
            </a:r>
            <a:endParaRPr lang="en-US" sz="1150" dirty="0"/>
          </a:p>
        </p:txBody>
      </p:sp>
      <p:sp>
        <p:nvSpPr>
          <p:cNvPr id="10" name="Shape 34"/>
          <p:cNvSpPr/>
          <p:nvPr/>
        </p:nvSpPr>
        <p:spPr>
          <a:xfrm>
            <a:off x="3848100" y="2532757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11" name="Shape 35"/>
          <p:cNvSpPr/>
          <p:nvPr/>
        </p:nvSpPr>
        <p:spPr>
          <a:xfrm>
            <a:off x="3848100" y="2532757"/>
            <a:ext cx="5530056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12" name="TextBox 37"/>
          <p:cNvSpPr/>
          <p:nvPr/>
        </p:nvSpPr>
        <p:spPr>
          <a:xfrm>
            <a:off x="10591800" y="2542282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33.57%</a:t>
            </a:r>
            <a:endParaRPr lang="en-US" sz="1350" dirty="0"/>
          </a:p>
        </p:txBody>
      </p:sp>
      <p:sp>
        <p:nvSpPr>
          <p:cNvPr id="13" name="TextBox 42"/>
          <p:cNvSpPr/>
          <p:nvPr/>
        </p:nvSpPr>
        <p:spPr>
          <a:xfrm>
            <a:off x="711200" y="3040459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P0 → P2 → P1 → P3</a:t>
            </a:r>
            <a:endParaRPr lang="en-US" sz="1150" dirty="0"/>
          </a:p>
        </p:txBody>
      </p:sp>
      <p:sp>
        <p:nvSpPr>
          <p:cNvPr id="14" name="Shape 44"/>
          <p:cNvSpPr/>
          <p:nvPr/>
        </p:nvSpPr>
        <p:spPr>
          <a:xfrm>
            <a:off x="3848100" y="3032820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15" name="Shape 45"/>
          <p:cNvSpPr/>
          <p:nvPr/>
        </p:nvSpPr>
        <p:spPr>
          <a:xfrm>
            <a:off x="3848100" y="3032820"/>
            <a:ext cx="4706144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16" name="TextBox 47"/>
          <p:cNvSpPr/>
          <p:nvPr/>
        </p:nvSpPr>
        <p:spPr>
          <a:xfrm>
            <a:off x="10591800" y="3042345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28.57%</a:t>
            </a:r>
            <a:endParaRPr lang="en-US" sz="1350" dirty="0"/>
          </a:p>
        </p:txBody>
      </p:sp>
      <p:sp>
        <p:nvSpPr>
          <p:cNvPr id="17" name="TextBox 52"/>
          <p:cNvSpPr/>
          <p:nvPr/>
        </p:nvSpPr>
        <p:spPr>
          <a:xfrm>
            <a:off x="711200" y="3540522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P2 → P0 → P3 → P1</a:t>
            </a:r>
            <a:endParaRPr lang="en-US" sz="1150" dirty="0"/>
          </a:p>
        </p:txBody>
      </p:sp>
      <p:sp>
        <p:nvSpPr>
          <p:cNvPr id="18" name="Shape 54"/>
          <p:cNvSpPr/>
          <p:nvPr/>
        </p:nvSpPr>
        <p:spPr>
          <a:xfrm>
            <a:off x="3848100" y="3532882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19" name="Shape 55"/>
          <p:cNvSpPr/>
          <p:nvPr/>
        </p:nvSpPr>
        <p:spPr>
          <a:xfrm>
            <a:off x="3848100" y="3532882"/>
            <a:ext cx="4594126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20" name="TextBox 57"/>
          <p:cNvSpPr/>
          <p:nvPr/>
        </p:nvSpPr>
        <p:spPr>
          <a:xfrm>
            <a:off x="10591800" y="3542407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27.86%</a:t>
            </a:r>
            <a:endParaRPr lang="en-US" sz="1350" dirty="0"/>
          </a:p>
        </p:txBody>
      </p:sp>
      <p:sp>
        <p:nvSpPr>
          <p:cNvPr id="21" name="TextBox 62"/>
          <p:cNvSpPr/>
          <p:nvPr/>
        </p:nvSpPr>
        <p:spPr>
          <a:xfrm>
            <a:off x="711200" y="4040584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P2 → P0 → P1 → P3</a:t>
            </a:r>
            <a:endParaRPr lang="en-US" sz="1150" dirty="0"/>
          </a:p>
        </p:txBody>
      </p:sp>
      <p:sp>
        <p:nvSpPr>
          <p:cNvPr id="22" name="Shape 64"/>
          <p:cNvSpPr/>
          <p:nvPr/>
        </p:nvSpPr>
        <p:spPr>
          <a:xfrm>
            <a:off x="3848100" y="4032945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23" name="Shape 65"/>
          <p:cNvSpPr/>
          <p:nvPr/>
        </p:nvSpPr>
        <p:spPr>
          <a:xfrm>
            <a:off x="3848100" y="4032945"/>
            <a:ext cx="3770213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24" name="TextBox 67"/>
          <p:cNvSpPr/>
          <p:nvPr/>
        </p:nvSpPr>
        <p:spPr>
          <a:xfrm>
            <a:off x="10591800" y="4042470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22.86%</a:t>
            </a:r>
            <a:endParaRPr lang="en-US" sz="1350" dirty="0"/>
          </a:p>
        </p:txBody>
      </p:sp>
      <p:sp>
        <p:nvSpPr>
          <p:cNvPr id="25" name="TextBox 72"/>
          <p:cNvSpPr/>
          <p:nvPr/>
        </p:nvSpPr>
        <p:spPr>
          <a:xfrm>
            <a:off x="711200" y="4540647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P2 → P1 → P3 → P0</a:t>
            </a:r>
            <a:endParaRPr lang="en-US" sz="1150" dirty="0"/>
          </a:p>
        </p:txBody>
      </p:sp>
      <p:sp>
        <p:nvSpPr>
          <p:cNvPr id="26" name="Shape 74"/>
          <p:cNvSpPr/>
          <p:nvPr/>
        </p:nvSpPr>
        <p:spPr>
          <a:xfrm>
            <a:off x="3848100" y="4533007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27" name="Shape 75"/>
          <p:cNvSpPr/>
          <p:nvPr/>
        </p:nvSpPr>
        <p:spPr>
          <a:xfrm>
            <a:off x="3848100" y="4533007"/>
            <a:ext cx="3176984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28" name="TextBox 77"/>
          <p:cNvSpPr/>
          <p:nvPr/>
        </p:nvSpPr>
        <p:spPr>
          <a:xfrm>
            <a:off x="10591800" y="4542532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19.29%</a:t>
            </a:r>
            <a:endParaRPr lang="en-US" sz="1350" dirty="0"/>
          </a:p>
        </p:txBody>
      </p:sp>
      <p:sp>
        <p:nvSpPr>
          <p:cNvPr id="29" name="TextBox 82"/>
          <p:cNvSpPr/>
          <p:nvPr/>
        </p:nvSpPr>
        <p:spPr>
          <a:xfrm>
            <a:off x="711200" y="5040709"/>
            <a:ext cx="298450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19191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P2 → P1 → P0 → P3</a:t>
            </a:r>
            <a:endParaRPr lang="en-US" sz="1150" dirty="0"/>
          </a:p>
        </p:txBody>
      </p:sp>
      <p:sp>
        <p:nvSpPr>
          <p:cNvPr id="30" name="Shape 84"/>
          <p:cNvSpPr/>
          <p:nvPr/>
        </p:nvSpPr>
        <p:spPr>
          <a:xfrm>
            <a:off x="3848100" y="5033070"/>
            <a:ext cx="6591300" cy="190500"/>
          </a:xfrm>
          <a:prstGeom prst="roundRect">
            <a:avLst>
              <a:gd name="adj" fmla="val 20000"/>
            </a:avLst>
          </a:prstGeom>
          <a:solidFill>
            <a:srgbClr val="D9D5CC"/>
          </a:solidFill>
          <a:ln/>
        </p:spPr>
      </p:sp>
      <p:sp>
        <p:nvSpPr>
          <p:cNvPr id="31" name="Shape 85"/>
          <p:cNvSpPr/>
          <p:nvPr/>
        </p:nvSpPr>
        <p:spPr>
          <a:xfrm>
            <a:off x="3848100" y="5033070"/>
            <a:ext cx="3058319" cy="190500"/>
          </a:xfrm>
          <a:prstGeom prst="roundRect">
            <a:avLst>
              <a:gd name="adj" fmla="val 20000"/>
            </a:avLst>
          </a:prstGeom>
          <a:solidFill>
            <a:srgbClr val="98C5B5"/>
          </a:solidFill>
          <a:ln/>
        </p:spPr>
      </p:sp>
      <p:sp>
        <p:nvSpPr>
          <p:cNvPr id="32" name="TextBox 87"/>
          <p:cNvSpPr/>
          <p:nvPr/>
        </p:nvSpPr>
        <p:spPr>
          <a:xfrm>
            <a:off x="10591800" y="5042595"/>
            <a:ext cx="88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9191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18.57%</a:t>
            </a:r>
            <a:endParaRPr lang="en-US" sz="1350" dirty="0"/>
          </a:p>
        </p:txBody>
      </p:sp>
      <p:sp>
        <p:nvSpPr>
          <p:cNvPr id="33" name="TextBox 92"/>
          <p:cNvSpPr/>
          <p:nvPr/>
        </p:nvSpPr>
        <p:spPr>
          <a:xfrm>
            <a:off x="711200" y="5634732"/>
            <a:ext cx="10769600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5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让高占用进程尽早完成，系统更快进入低占用状态——「执行顺序」由此变成可比较的数。</a:t>
            </a:r>
            <a:endParaRPr lang="en-US" sz="1500" dirty="0"/>
          </a:p>
        </p:txBody>
      </p:sp>
      <p:sp>
        <p:nvSpPr>
          <p:cNvPr id="34" name="TextBox 97"/>
          <p:cNvSpPr/>
          <p:nvPr/>
        </p:nvSpPr>
        <p:spPr>
          <a:xfrm>
            <a:off x="711200" y="6510040"/>
            <a:ext cx="6400899" cy="132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实测：n=4, m=3, seed=7，Total=[5, 20, 10]；效率 = 序列执行中各时刻系统利用率的平均值；条形按效率等比绘制（满刻度 40%）</a:t>
            </a:r>
            <a:endParaRPr lang="en-US" sz="800" dirty="0"/>
          </a:p>
        </p:txBody>
      </p:sp>
      <p:sp>
        <p:nvSpPr>
          <p:cNvPr id="35" name="TextBox 99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Box 7"/>
          <p:cNvSpPr/>
          <p:nvPr/>
        </p:nvSpPr>
        <p:spPr>
          <a:xfrm>
            <a:off x="711200" y="558800"/>
            <a:ext cx="10769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80" kern="0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问题与解决</a:t>
            </a:r>
            <a:endParaRPr lang="en-US" sz="1000" dirty="0"/>
          </a:p>
        </p:txBody>
      </p:sp>
      <p:sp>
        <p:nvSpPr>
          <p:cNvPr id="4" name="TextBox 9"/>
          <p:cNvSpPr/>
          <p:nvPr/>
        </p:nvSpPr>
        <p:spPr>
          <a:xfrm>
            <a:off x="711200" y="825500"/>
            <a:ext cx="889000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919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四个工程权衡：让算法变成能演示的程序</a:t>
            </a:r>
            <a:endParaRPr lang="en-US" sz="3200" dirty="0"/>
          </a:p>
        </p:txBody>
      </p:sp>
      <p:sp>
        <p:nvSpPr>
          <p:cNvPr id="5" name="Shape 16"/>
          <p:cNvSpPr/>
          <p:nvPr/>
        </p:nvSpPr>
        <p:spPr>
          <a:xfrm>
            <a:off x="711200" y="2739132"/>
            <a:ext cx="2540000" cy="2288480"/>
          </a:xfrm>
          <a:prstGeom prst="roundRect">
            <a:avLst>
              <a:gd name="adj" fmla="val 499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6" name="TextBox 18"/>
          <p:cNvSpPr/>
          <p:nvPr/>
        </p:nvSpPr>
        <p:spPr>
          <a:xfrm>
            <a:off x="927100" y="2967732"/>
            <a:ext cx="21082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n!</a:t>
            </a:r>
            <a:endParaRPr lang="en-US" sz="2300" dirty="0"/>
          </a:p>
        </p:txBody>
      </p:sp>
      <p:sp>
        <p:nvSpPr>
          <p:cNvPr id="7" name="TextBox 20"/>
          <p:cNvSpPr/>
          <p:nvPr/>
        </p:nvSpPr>
        <p:spPr>
          <a:xfrm>
            <a:off x="927100" y="3361432"/>
            <a:ext cx="21082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组合爆炸 → 枚举上限</a:t>
            </a:r>
            <a:endParaRPr lang="en-US" sz="1500" dirty="0"/>
          </a:p>
        </p:txBody>
      </p:sp>
      <p:sp>
        <p:nvSpPr>
          <p:cNvPr id="8" name="TextBox 22"/>
          <p:cNvSpPr/>
          <p:nvPr/>
        </p:nvSpPr>
        <p:spPr>
          <a:xfrm>
            <a:off x="927100" y="3687762"/>
            <a:ext cx="2108200" cy="90170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安全序列最多 n! 条，n=10 约 360 万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DFS 枚举设 20000 条上限，超限在界面与日志中明确提示</a:t>
            </a:r>
            <a:endParaRPr lang="en-US" sz="1100" dirty="0"/>
          </a:p>
        </p:txBody>
      </p:sp>
      <p:sp>
        <p:nvSpPr>
          <p:cNvPr id="9" name="Shape 25"/>
          <p:cNvSpPr/>
          <p:nvPr/>
        </p:nvSpPr>
        <p:spPr>
          <a:xfrm>
            <a:off x="3454400" y="2739132"/>
            <a:ext cx="2540000" cy="2288480"/>
          </a:xfrm>
          <a:prstGeom prst="roundRect">
            <a:avLst>
              <a:gd name="adj" fmla="val 499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0" name="TextBox 27"/>
          <p:cNvSpPr/>
          <p:nvPr/>
        </p:nvSpPr>
        <p:spPr>
          <a:xfrm>
            <a:off x="3670300" y="2967732"/>
            <a:ext cx="21082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≠</a:t>
            </a:r>
            <a:endParaRPr lang="en-US" sz="2300" dirty="0"/>
          </a:p>
        </p:txBody>
      </p:sp>
      <p:sp>
        <p:nvSpPr>
          <p:cNvPr id="11" name="TextBox 29"/>
          <p:cNvSpPr/>
          <p:nvPr/>
        </p:nvSpPr>
        <p:spPr>
          <a:xfrm>
            <a:off x="3670300" y="3361432"/>
            <a:ext cx="21082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 ≠ 随意</a:t>
            </a:r>
            <a:endParaRPr lang="en-US" sz="1500" dirty="0"/>
          </a:p>
        </p:txBody>
      </p:sp>
      <p:sp>
        <p:nvSpPr>
          <p:cNvPr id="12" name="TextBox 31"/>
          <p:cNvSpPr/>
          <p:nvPr/>
        </p:nvSpPr>
        <p:spPr>
          <a:xfrm>
            <a:off x="3670300" y="3687762"/>
            <a:ext cx="2108200" cy="90170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完全随机的数据可能一开始就不安全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生成后做安全性检查，不安全整组重生成，全零分配兜底</a:t>
            </a:r>
            <a:endParaRPr lang="en-US" sz="1100" dirty="0"/>
          </a:p>
        </p:txBody>
      </p:sp>
      <p:sp>
        <p:nvSpPr>
          <p:cNvPr id="13" name="Shape 34"/>
          <p:cNvSpPr/>
          <p:nvPr/>
        </p:nvSpPr>
        <p:spPr>
          <a:xfrm>
            <a:off x="6197600" y="2739132"/>
            <a:ext cx="2540000" cy="2288480"/>
          </a:xfrm>
          <a:prstGeom prst="roundRect">
            <a:avLst>
              <a:gd name="adj" fmla="val 499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Box 36"/>
          <p:cNvSpPr/>
          <p:nvPr/>
        </p:nvSpPr>
        <p:spPr>
          <a:xfrm>
            <a:off x="6413500" y="2967732"/>
            <a:ext cx="21082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−</a:t>
            </a:r>
            <a:endParaRPr lang="en-US" sz="2300" dirty="0"/>
          </a:p>
        </p:txBody>
      </p:sp>
      <p:sp>
        <p:nvSpPr>
          <p:cNvPr id="15" name="TextBox 38"/>
          <p:cNvSpPr/>
          <p:nvPr/>
        </p:nvSpPr>
        <p:spPr>
          <a:xfrm>
            <a:off x="6413500" y="3361432"/>
            <a:ext cx="21082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 语义自洽</a:t>
            </a:r>
            <a:endParaRPr lang="en-US" sz="1500" dirty="0"/>
          </a:p>
        </p:txBody>
      </p:sp>
      <p:sp>
        <p:nvSpPr>
          <p:cNvPr id="16" name="TextBox 40"/>
          <p:cNvSpPr/>
          <p:nvPr/>
        </p:nvSpPr>
        <p:spPr>
          <a:xfrm>
            <a:off x="6413500" y="3687762"/>
            <a:ext cx="2108200" cy="111125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独立随机 Need 易与 Max、Allocation 矛盾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严格按 Need = Max − Allocation 计算，三者始终自洽</a:t>
            </a:r>
            <a:endParaRPr lang="en-US" sz="1100" dirty="0"/>
          </a:p>
        </p:txBody>
      </p:sp>
      <p:sp>
        <p:nvSpPr>
          <p:cNvPr id="17" name="Shape 43"/>
          <p:cNvSpPr/>
          <p:nvPr/>
        </p:nvSpPr>
        <p:spPr>
          <a:xfrm>
            <a:off x="8940800" y="2739132"/>
            <a:ext cx="2540000" cy="2288480"/>
          </a:xfrm>
          <a:prstGeom prst="roundRect">
            <a:avLst>
              <a:gd name="adj" fmla="val 499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Box 45"/>
          <p:cNvSpPr/>
          <p:nvPr/>
        </p:nvSpPr>
        <p:spPr>
          <a:xfrm>
            <a:off x="9156700" y="2967732"/>
            <a:ext cx="21082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A7F5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2300" dirty="0"/>
          </a:p>
        </p:txBody>
      </p:sp>
      <p:sp>
        <p:nvSpPr>
          <p:cNvPr id="19" name="TextBox 47"/>
          <p:cNvSpPr/>
          <p:nvPr/>
        </p:nvSpPr>
        <p:spPr>
          <a:xfrm>
            <a:off x="9156700" y="3361432"/>
            <a:ext cx="210820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500" b="1" dirty="0">
                <a:solidFill>
                  <a:srgbClr val="1919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解耦 → 可测试</a:t>
            </a:r>
            <a:endParaRPr lang="en-US" sz="1500" dirty="0"/>
          </a:p>
        </p:txBody>
      </p:sp>
      <p:sp>
        <p:nvSpPr>
          <p:cNvPr id="20" name="TextBox 49"/>
          <p:cNvSpPr/>
          <p:nvPr/>
        </p:nvSpPr>
        <p:spPr>
          <a:xfrm>
            <a:off x="9156700" y="3687762"/>
            <a:ext cx="2108200" cy="901700"/>
          </a:xfrm>
          <a:prstGeom prst="rect">
            <a:avLst/>
          </a:prstGeom>
          <a:noFill/>
          <a:ln/>
        </p:spPr>
        <p:txBody>
          <a:bodyPr wrap="square" lIns="0" tIns="165100" rIns="0" bIns="0" rtlCol="0" anchor="t">
            <a:normAutofit/>
          </a:bodyPr>
          <a:lstStyle/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 Banker 类独立于界面，内置 --self-test</a:t>
            </a:r>
            <a:endParaRPr lang="en-US" sz="1100" dirty="0"/>
          </a:p>
          <a:p>
            <a:pPr algn="l" marL="169333" indent="-169333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696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组随机实例批量验证，全部通过</a:t>
            </a:r>
            <a:endParaRPr lang="en-US" sz="1100" dirty="0"/>
          </a:p>
        </p:txBody>
      </p:sp>
      <p:sp>
        <p:nvSpPr>
          <p:cNvPr id="21" name="TextBox 55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9676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817"/>
          </a:solidFill>
          <a:ln/>
        </p:spPr>
      </p:sp>
      <p:sp>
        <p:nvSpPr>
          <p:cNvPr id="3" name="TextBox 7"/>
          <p:cNvSpPr/>
          <p:nvPr/>
        </p:nvSpPr>
        <p:spPr>
          <a:xfrm>
            <a:off x="5854700" y="1977827"/>
            <a:ext cx="482600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040"/>
              </a:lnSpc>
              <a:buNone/>
            </a:pPr>
            <a:r>
              <a:rPr lang="en-US" sz="3800" b="1" dirty="0">
                <a:solidFill>
                  <a:srgbClr val="5CC9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</a:t>
            </a:r>
            <a:endParaRPr lang="en-US" sz="3800" dirty="0"/>
          </a:p>
        </p:txBody>
      </p:sp>
      <p:sp>
        <p:nvSpPr>
          <p:cNvPr id="4" name="TextBox 9"/>
          <p:cNvSpPr/>
          <p:nvPr/>
        </p:nvSpPr>
        <p:spPr>
          <a:xfrm>
            <a:off x="2959100" y="2617887"/>
            <a:ext cx="6273800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800" b="1" dirty="0">
                <a:solidFill>
                  <a:srgbClr val="F3F0E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每次分配之前，先验算未来。</a:t>
            </a:r>
            <a:endParaRPr lang="en-US" sz="3800" dirty="0"/>
          </a:p>
        </p:txBody>
      </p:sp>
      <p:sp>
        <p:nvSpPr>
          <p:cNvPr id="5" name="TextBox 11"/>
          <p:cNvSpPr/>
          <p:nvPr/>
        </p:nvSpPr>
        <p:spPr>
          <a:xfrm>
            <a:off x="2603500" y="3393083"/>
            <a:ext cx="6985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AAA79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把死锁避免的思想，落地成可运行、可观察、可验证的程序——内置自测试覆盖经典案例与 30 组随机实例，全部通过。</a:t>
            </a:r>
            <a:endParaRPr lang="en-US" sz="1500" dirty="0"/>
          </a:p>
        </p:txBody>
      </p:sp>
      <p:sp>
        <p:nvSpPr>
          <p:cNvPr id="6" name="TextBox 13"/>
          <p:cNvSpPr/>
          <p:nvPr/>
        </p:nvSpPr>
        <p:spPr>
          <a:xfrm>
            <a:off x="3276600" y="4199533"/>
            <a:ext cx="56388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AA79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交付物：bankers_algorithm.py（零第三方依赖） · 实验报告 · 本汇报 PPT</a:t>
            </a:r>
            <a:endParaRPr lang="en-US" sz="1200" dirty="0"/>
          </a:p>
        </p:txBody>
      </p:sp>
      <p:sp>
        <p:nvSpPr>
          <p:cNvPr id="7" name="TextBox 15"/>
          <p:cNvSpPr/>
          <p:nvPr/>
        </p:nvSpPr>
        <p:spPr>
          <a:xfrm>
            <a:off x="4953000" y="4666853"/>
            <a:ext cx="2286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AA79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谢谢聆听，恳请各位老师批评指正</a:t>
            </a:r>
            <a:endParaRPr lang="en-US" sz="1200" dirty="0"/>
          </a:p>
        </p:txBody>
      </p:sp>
      <p:sp>
        <p:nvSpPr>
          <p:cNvPr id="8" name="TextBox 19"/>
          <p:cNvSpPr/>
          <p:nvPr/>
        </p:nvSpPr>
        <p:spPr>
          <a:xfrm>
            <a:off x="11000680" y="6527800"/>
            <a:ext cx="4801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AAA79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2026-10-13T12:43:08Z</dcterms:created>
  <dcterms:modified xsi:type="dcterms:W3CDTF">2026-10-13T12:43:08Z</dcterms:modified>
</cp:coreProperties>
</file>